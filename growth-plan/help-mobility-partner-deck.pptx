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Help Mobility</a:t>
            </a:r>
          </a:p>
          <a:p>
            <a:r>
              <a:rPr sz="2600">
                <a:solidFill>
                  <a:srgbClr val="179E8A"/>
                </a:solidFill>
              </a:rPr>
              <a:t>Your equipment partner for Hospital-at-Home &amp; senior care</a:t>
            </a:r>
          </a:p>
          <a:p>
            <a:r>
              <a:rPr sz="1600">
                <a:solidFill>
                  <a:srgbClr val="FFFFFF"/>
                </a:solidFill>
              </a:rPr>
              <a:t>ADP-Authorized Vendor  •  Greater Toronto Area  •  Sales · Rentals ·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65960"/>
            <a:ext cx="3291840" cy="82296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Partnership proposal  •  [Date]  •  Prepared for [Hospital / Retirement Group]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THE OPPORTUNITY</a:t>
            </a:r>
          </a:p>
          <a:p>
            <a:r>
              <a:rPr sz="2800" b="1">
                <a:solidFill>
                  <a:srgbClr val="FFFFFF"/>
                </a:solidFill>
              </a:rPr>
              <a:t>The discharge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Ontario is moving acute care into the home — and funding it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$1.1B over 3 years into home care &amp; Hospital-to-Home; ~8,100 patients across 47 sites in 2024-25, expanding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Safe, timely discharge depends on the right equipment, set up correctly, fast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Equipment delays = ALC days, bed-blocking, and readmission risk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Discharge teams need one reliable partner who also handles the funding paperwork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ABOUT HELP MOBILITY</a:t>
            </a:r>
          </a:p>
          <a:p>
            <a:r>
              <a:rPr sz="2800" b="1">
                <a:solidFill>
                  <a:srgbClr val="FFFFFF"/>
                </a:solidFill>
              </a:rPr>
              <a:t>Who we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ADP-authorized home medical equipment provider serving the Greater Toronto Area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Full catalog under one roof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Mobility: wheelchairs, power chairs, scooters, walkers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Home accessibility: stairlifts, porchlifts, ramps, ceiling &amp; patient lifts, door openers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Bathroom safety &amp; daily-living aids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Sales, rentals, and in-house repairs / maintenance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Dedicated delivery and technical-service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VALUE TO THE HOSPITAL</a:t>
            </a:r>
          </a:p>
          <a:p>
            <a:r>
              <a:rPr sz="2800" b="1">
                <a:solidFill>
                  <a:srgbClr val="FFFFFF"/>
                </a:solidFill>
              </a:rPr>
              <a:t>What we do for discharge 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Fast fulfillment: 24-48h standard, same-day for acute Hospital-at-Home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In-home delivery + setup + patient/caregiver orientation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Funding done-for-you — one intake form screens every payer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Your team stops chasing equipment and paperwork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Single point of contact for status, changes, and pickups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RENTALS</a:t>
            </a:r>
          </a:p>
          <a:p>
            <a:r>
              <a:rPr sz="2800" b="1">
                <a:solidFill>
                  <a:srgbClr val="FFFFFF"/>
                </a:solidFill>
              </a:rPr>
              <a:t>Hospital-at-Home rental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Short-term rental fleet sized to your census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Hospital beds, patient lifts, mobility devices, transfer &amp; safety equipment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Flexible terms — daily / weekly / monthly, scale up or down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Full-cycle logistics: deliver, set up, pick up, clean, redeploy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Rapid swaps and 24/7 issue line for active acute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DIFFERENTIATOR</a:t>
            </a:r>
          </a:p>
          <a:p>
            <a:r>
              <a:rPr sz="2800" b="1">
                <a:solidFill>
                  <a:srgbClr val="FFFFFF"/>
                </a:solidFill>
              </a:rPr>
              <a:t>Funding navigation is our 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We manage the full funding stack so patients pay less and you discharge sooner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ADP — up to 75% (100% for ODSP/OW recipients)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Private insurance via Assignment of Benefits — Manulife, Sun Life, Canada Life, GreenShield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WSIB, Veterans Affairs (Medavie), NIHB — direct-billed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March of Dimes HVMP &amp; Ontario Renovates for home modifications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Benefit verification before quoting; we handle predeterminations and approvals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SUPPORT</a:t>
            </a:r>
          </a:p>
          <a:p>
            <a:r>
              <a:rPr sz="2800" b="1">
                <a:solidFill>
                  <a:srgbClr val="FFFFFF"/>
                </a:solidFill>
              </a:rPr>
              <a:t>Service &amp;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Trained technicians for setup, preventive maintenance, and repairs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Preventive-maintenance (PM) contracts keep equipment safe and in service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Service-level commitments with response-time targets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Regular status and utilization reporting to your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RETIREMENT &amp; LTC</a:t>
            </a:r>
          </a:p>
          <a:p>
            <a:r>
              <a:rPr sz="2800" b="1">
                <a:solidFill>
                  <a:srgbClr val="FFFFFF"/>
                </a:solidFill>
              </a:rPr>
              <a:t>For retirement &amp; long-term care homes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Preferred-supplier program for your homes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Standardized beds, mobility, and bath-safety across the chain with managed replacement cycles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On-site assessment / clinic days for residents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Resident private-pay + ADP + insurance handled for families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Annual PM service contracts on each home's equipment fleet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–  Engaged with ORCA &amp; AdvantAge Ontario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THE CHOICE</a:t>
            </a:r>
          </a:p>
          <a:p>
            <a:r>
              <a:rPr sz="2800" b="1">
                <a:solidFill>
                  <a:srgbClr val="FFFFFF"/>
                </a:solidFill>
              </a:rPr>
              <a:t>Why Help Mobility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Speed — same/next-day delivery and setup national chains struggle to match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Local &amp; multilingual — responsive, relationship-driven service across the GTA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Funding-done-for-you — the partner that removes the paperwork pain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Recurring care — resupply and PM contracts, not one-and-done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TRUST</a:t>
            </a:r>
          </a:p>
          <a:p>
            <a:r>
              <a:rPr sz="2800" b="1">
                <a:solidFill>
                  <a:srgbClr val="FFFFFF"/>
                </a:solidFill>
              </a:rPr>
              <a:t>Patient choice &amp;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We support and document patient choice of vendor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We earn the call by being on your approved lists/formularies and hitting SLAs — never by inducements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PHIPA-compliant handling of patient information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Proper authorizer assessment and medical-necessity documentation on every funded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/>
            <a:r>
              <a:rPr sz="1200" b="1">
                <a:solidFill>
                  <a:srgbClr val="179E8A"/>
                </a:solidFill>
              </a:rPr>
              <a:t>LET'S DEFINE IT TOGETHER</a:t>
            </a:r>
          </a:p>
          <a:p>
            <a:r>
              <a:rPr sz="2800" b="1">
                <a:solidFill>
                  <a:srgbClr val="FFFFFF"/>
                </a:solidFill>
              </a:rPr>
              <a:t>Proposed partnership / SLA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3108960" cy="73152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Response time: [e.g., acknowledge within 2 hours]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Delivery &amp; setup window: [e.g., same-day acute / 24-48h standard]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Dedicated account contact + 24/7 issue line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Reporting cadence: [e.g., monthly utilization &amp; SLA report]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1F3864"/>
                </a:solidFill>
              </a:rPr>
              <a:t>▪  Pilot proposal: [X] discharges over [Y] weeks, then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Help Mobility  •  helpmobility.ca  •  ADP-Authorized Vendor  •  Greater Toronto Area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Let's partner.</a:t>
            </a:r>
          </a:p>
          <a:p>
            <a:r>
              <a:rPr sz="1800">
                <a:solidFill>
                  <a:srgbClr val="FFFFFF"/>
                </a:solidFill>
              </a:rPr>
              <a:t>Saeed Teskie, CEO  •  Mohamed Alyoussef, Institutional Partnerships</a:t>
            </a:r>
          </a:p>
          <a:p>
            <a:r>
              <a:rPr sz="1800">
                <a:solidFill>
                  <a:srgbClr val="FFFFFF"/>
                </a:solidFill>
              </a:rPr>
              <a:t>helpmobility.ca  •  [phone]  •  [email]</a:t>
            </a:r>
          </a:p>
          <a:p>
            <a:r>
              <a:rPr sz="1800">
                <a:solidFill>
                  <a:srgbClr val="FFFFFF"/>
                </a:solidFill>
              </a:rPr>
              <a:t>Next step: a short pilot on your next [X] discharges.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2926080" cy="82296"/>
          </a:xfrm>
          <a:prstGeom prst="rect">
            <a:avLst/>
          </a:prstGeom>
          <a:solidFill>
            <a:srgbClr val="17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